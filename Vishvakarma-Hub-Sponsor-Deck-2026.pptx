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BBF24"/>
                </a:solidFill>
                <a:latin typeface="Calibri"/>
              </a:defRPr>
            </a:pPr>
            <a:r>
              <a:t>VISHVAKARMA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Vishvakarma Innovation</a:t>
            </a:r>
            <a:br/>
            <a:r>
              <a:t>Challenge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BBF24"/>
                </a:solidFill>
                <a:latin typeface="Calibri"/>
              </a:defRPr>
            </a:pPr>
            <a:r>
              <a:t>Sponsor Partnership Deck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4389120"/>
            <a:ext cx="210312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Calibri"/>
              </a:defRPr>
            </a:pPr>
            <a:r>
              <a:t>India's Next Big Startup Movement — Be Part of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BBF24"/>
                </a:solidFill>
                <a:latin typeface="Calibri"/>
              </a:defRPr>
            </a:pPr>
            <a:r>
              <a:t>www.vishvakarmahub.com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21424"/>
            <a:ext cx="12191695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This Matters For Your Brand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Calibri"/>
              </a:defRPr>
            </a:pPr>
            <a:r>
              <a:t>This is not just an event. It's a launchpad for India's next wave of innovation — and your brand can be at the center of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2468880" cy="2011680"/>
          </a:xfrm>
          <a:prstGeom prst="roundRect">
            <a:avLst>
              <a:gd name="adj" fmla="val 2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246888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9E0B"/>
                </a:solidFill>
                <a:latin typeface="Calibri"/>
              </a:defRPr>
            </a:pPr>
            <a:r>
              <a:t>10,000+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Expected Attendees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Students, founders, investors, industry leaders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2377440"/>
            <a:ext cx="2468880" cy="2011680"/>
          </a:xfrm>
          <a:prstGeom prst="roundRect">
            <a:avLst>
              <a:gd name="adj" fmla="val 2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20440" y="2377440"/>
            <a:ext cx="24688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94760" y="26974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Calibri"/>
              </a:defRPr>
            </a:pPr>
            <a:r>
              <a:t>10,00,000+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291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Digital Reach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703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Social media impressions across platforms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377440"/>
            <a:ext cx="2468880" cy="2011680"/>
          </a:xfrm>
          <a:prstGeom prst="roundRect">
            <a:avLst>
              <a:gd name="adj" fmla="val 2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2377440"/>
            <a:ext cx="246888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26974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4D399"/>
                </a:solidFill>
                <a:latin typeface="Calibri"/>
              </a:defRPr>
            </a:pPr>
            <a:r>
              <a:t>500+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291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Startups &amp; Ideas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703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Across AI, FinTech, HealthTech, EdTech &amp; more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2377440"/>
            <a:ext cx="2468880" cy="2011680"/>
          </a:xfrm>
          <a:prstGeom prst="roundRect">
            <a:avLst>
              <a:gd name="adj" fmla="val 2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98280" y="2377440"/>
            <a:ext cx="24688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72600" y="26974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A78BFA"/>
                </a:solidFill>
                <a:latin typeface="Calibri"/>
              </a:defRPr>
            </a:pPr>
            <a:r>
              <a:t>100+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291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Colleges &amp; Institutions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3703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Pan-India participation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46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🎤 Live Pitching Sessions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846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🏪 Startup Exhibition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4846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🎓 Workshops &amp; Masterclasses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846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🤝 Investor Networking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4846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🏆 Grand Award Ceremony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PARTNERSHIP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Every Partner Gets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1920240"/>
          </a:xfrm>
          <a:prstGeom prst="roundRect">
            <a:avLst>
              <a:gd name="adj" fmla="val 2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74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Brand Visibility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889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Logo on stage, banners, website, certificates, ID cards, and all event media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383280" cy="1920240"/>
          </a:xfrm>
          <a:prstGeom prst="roundRect">
            <a:avLst>
              <a:gd name="adj" fmla="val 2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3383280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874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Speaking Opportunities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7889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Keynote slots, panel discussions, and closing ceremony addresses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383280" cy="1920240"/>
          </a:xfrm>
          <a:prstGeom prst="roundRect">
            <a:avLst>
              <a:gd name="adj" fmla="val 2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645920"/>
            <a:ext cx="338328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1874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Talent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7889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Direct access to 500+ innovative minds — recruit interns, co-founders, employees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31920"/>
            <a:ext cx="3383280" cy="1920240"/>
          </a:xfrm>
          <a:prstGeom prst="roundRect">
            <a:avLst>
              <a:gd name="adj" fmla="val 2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931920"/>
            <a:ext cx="33832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4160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663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Lead 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0749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QR-based lead capture, attendee database access, post-event analytics report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931920"/>
            <a:ext cx="3383280" cy="1920240"/>
          </a:xfrm>
          <a:prstGeom prst="roundRect">
            <a:avLst>
              <a:gd name="adj" fmla="val 2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89120" y="3931920"/>
            <a:ext cx="3383280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17720" y="4160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663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Digital Content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50749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Branded reels, YouTube coverage, social media posts reaching 10L+ impressions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931920"/>
            <a:ext cx="3383280" cy="1920240"/>
          </a:xfrm>
          <a:prstGeom prst="roundRect">
            <a:avLst>
              <a:gd name="adj" fmla="val 2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46720" y="3931920"/>
            <a:ext cx="33832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75320" y="4160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663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Networking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50749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VIP access to investor roundtables, founder meetups, exclusive after-event sessions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MOST PREMIUM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👑 Title Sponsor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BBF24"/>
                </a:solidFill>
                <a:latin typeface="Calibri"/>
              </a:defRPr>
            </a:pPr>
            <a:r>
              <a:t>₹7,50,000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Calibri"/>
              </a:defRPr>
            </a:pPr>
            <a:r>
              <a:t>"The event carries YOUR name."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5303520" cy="3474720"/>
          </a:xfrm>
          <a:prstGeom prst="roundRect">
            <a:avLst>
              <a:gd name="adj" fmla="val 2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FBBF24"/>
                </a:solidFill>
                <a:latin typeface="Calibri"/>
              </a:rPr>
              <a:t>✦  </a:t>
            </a:r>
            <a:r>
              <a:rPr sz="1400">
                <a:solidFill>
                  <a:srgbClr val="CCCCCC"/>
                </a:solidFill>
                <a:latin typeface="Calibri"/>
              </a:rPr>
              <a:t>Event named "Powered by [Your Brand]"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FBBF24"/>
                </a:solidFill>
                <a:latin typeface="Calibri"/>
              </a:rPr>
              <a:t>✦  </a:t>
            </a:r>
            <a:r>
              <a:rPr sz="1400">
                <a:solidFill>
                  <a:srgbClr val="CCCCCC"/>
                </a:solidFill>
                <a:latin typeface="Calibri"/>
              </a:rPr>
              <a:t>Exclusive category rights — no competitors in your industry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FBBF24"/>
                </a:solidFill>
                <a:latin typeface="Calibri"/>
              </a:rPr>
              <a:t>✦  </a:t>
            </a:r>
            <a:r>
              <a:rPr sz="1400">
                <a:solidFill>
                  <a:srgbClr val="CCCCCC"/>
                </a:solidFill>
                <a:latin typeface="Calibri"/>
              </a:rPr>
              <a:t>Logo on stage backdrop &amp; all banners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FBBF24"/>
                </a:solidFill>
                <a:latin typeface="Calibri"/>
              </a:rPr>
              <a:t>✦  </a:t>
            </a:r>
            <a:r>
              <a:rPr sz="1400">
                <a:solidFill>
                  <a:srgbClr val="CCCCCC"/>
                </a:solidFill>
                <a:latin typeface="Calibri"/>
              </a:rPr>
              <a:t>5–10 min keynote speech + closing ceremony address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FBBF24"/>
                </a:solidFill>
                <a:latin typeface="Calibri"/>
              </a:rPr>
              <a:t>✦  </a:t>
            </a:r>
            <a:r>
              <a:rPr sz="1400">
                <a:solidFill>
                  <a:srgbClr val="CCCCCC"/>
                </a:solidFill>
                <a:latin typeface="Calibri"/>
              </a:rPr>
              <a:t>Dedicated hiring zone at venue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560320"/>
            <a:ext cx="5303520" cy="3474720"/>
          </a:xfrm>
          <a:prstGeom prst="roundRect">
            <a:avLst>
              <a:gd name="adj" fmla="val 2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6974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FBBF24"/>
                </a:solidFill>
                <a:latin typeface="Calibri"/>
              </a:rPr>
              <a:t>✦  </a:t>
            </a:r>
            <a:r>
              <a:rPr sz="1400">
                <a:solidFill>
                  <a:srgbClr val="CCCCCC"/>
                </a:solidFill>
                <a:latin typeface="Calibri"/>
              </a:rPr>
              <a:t>Jury panel seat in finals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FBBF24"/>
                </a:solidFill>
                <a:latin typeface="Calibri"/>
              </a:rPr>
              <a:t>✦  </a:t>
            </a:r>
            <a:r>
              <a:rPr sz="1400">
                <a:solidFill>
                  <a:srgbClr val="CCCCCC"/>
                </a:solidFill>
                <a:latin typeface="Calibri"/>
              </a:rPr>
              <a:t>Premium branding across website &amp; all media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FBBF24"/>
                </a:solidFill>
                <a:latin typeface="Calibri"/>
              </a:rPr>
              <a:t>✦  </a:t>
            </a:r>
            <a:r>
              <a:rPr sz="1400">
                <a:solidFill>
                  <a:srgbClr val="CCCCCC"/>
                </a:solidFill>
                <a:latin typeface="Calibri"/>
              </a:rPr>
              <a:t>Media coverage &amp; press release mention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FBBF24"/>
                </a:solidFill>
                <a:latin typeface="Calibri"/>
              </a:rPr>
              <a:t>✦  </a:t>
            </a:r>
            <a:r>
              <a:rPr sz="1400">
                <a:solidFill>
                  <a:srgbClr val="CCCCCC"/>
                </a:solidFill>
                <a:latin typeface="Calibri"/>
              </a:rPr>
              <a:t>Premium startup exhibition booth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FBBF24"/>
                </a:solidFill>
                <a:latin typeface="Calibri"/>
              </a:rPr>
              <a:t>✦  </a:t>
            </a:r>
            <a:r>
              <a:rPr sz="1400">
                <a:solidFill>
                  <a:srgbClr val="CCCCCC"/>
                </a:solidFill>
                <a:latin typeface="Calibri"/>
              </a:rPr>
              <a:t>Direct access to top startups &amp; talent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BBF24"/>
                </a:solidFill>
                <a:latin typeface="Calibri"/>
              </a:defRPr>
            </a:pPr>
            <a:r>
              <a:t>Own the event. Own the narrative.  →  Only 1 slot available.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7185"/>
                </a:solidFill>
                <a:latin typeface="Calibri"/>
              </a:defRPr>
            </a:pPr>
            <a:r>
              <a:t>PREMIUM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🌟 Presenting Sponsor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B7185"/>
                </a:solidFill>
                <a:latin typeface="Calibri"/>
              </a:defRPr>
            </a:pPr>
            <a:r>
              <a:t>₹5,00,000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Calibri"/>
              </a:defRPr>
            </a:pPr>
            <a:r>
              <a:t>"Co-host India's biggest innovation challenge."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10515600" cy="3200400"/>
          </a:xfrm>
          <a:prstGeom prst="roundRect">
            <a:avLst>
              <a:gd name="adj" fmla="val 2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4754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FB7185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Co-host branding — full event co-presentation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FB7185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Sponsored challenge track (e.g., "AI Challenge powered by [You]")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FB7185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Logo on stage backdrop &amp; event banners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FB7185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5 min keynote slot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697480"/>
            <a:ext cx="4754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FB7185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Premium branding on website &amp; social media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FB7185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Media coverage &amp; press mention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FB7185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VIP booth at startup exhibition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FB7185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Networking access with top founders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B7185"/>
                </a:solidFill>
                <a:latin typeface="Calibri"/>
              </a:defRPr>
            </a:pPr>
            <a:r>
              <a:t>Be the co-host. Share the spotlight.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  <a:r>
              <a:t>ELITE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💎 Diamond Sponsor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Calibri"/>
              </a:defRPr>
            </a:pPr>
            <a:r>
              <a:t>₹3,50,000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0515600" cy="3840480"/>
          </a:xfrm>
          <a:prstGeom prst="roundRect">
            <a:avLst>
              <a:gd name="adj" fmla="val 2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38BDF8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Access to live startup pitching sessions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38BDF8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Investor roundtable invite with top founders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38BDF8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Lead capture system (QR code / digital cards)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38BDF8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Logo on event banners and stage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38BDF8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Featured website section with company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28600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38BDF8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Social media promotion across all channels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38BDF8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Premium exhibition booth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38BDF8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VIP networking access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38BDF8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Award ceremony mention &amp; brand visibility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8BDF8"/>
                </a:solidFill>
                <a:latin typeface="Calibri"/>
              </a:defRPr>
            </a:pPr>
            <a:r>
              <a:t>Elite access. Maximum ROI.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Calibri"/>
              </a:defRPr>
            </a:pPr>
            <a:r>
              <a:t>POPULAR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⬛ Platinum Sponsor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A78BFA"/>
                </a:solidFill>
                <a:latin typeface="Calibri"/>
              </a:defRPr>
            </a:pPr>
            <a:r>
              <a:t>₹1,00,000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Calibri"/>
              </a:defRPr>
            </a:pPr>
            <a:r>
              <a:t>"Maximum visibility at a smart investment."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10515600" cy="2743200"/>
          </a:xfrm>
          <a:prstGeom prst="roundRect">
            <a:avLst>
              <a:gd name="adj" fmla="val 2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9144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>
                <a:solidFill>
                  <a:srgbClr val="A78BFA"/>
                </a:solidFill>
                <a:latin typeface="Calibri"/>
              </a:rPr>
              <a:t>✦  </a:t>
            </a:r>
            <a:r>
              <a:rPr sz="1600">
                <a:solidFill>
                  <a:srgbClr val="CCCCCC"/>
                </a:solidFill>
                <a:latin typeface="Calibri"/>
              </a:rPr>
              <a:t>Logo on event banners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>
                <a:solidFill>
                  <a:srgbClr val="A78BFA"/>
                </a:solidFill>
                <a:latin typeface="Calibri"/>
              </a:rPr>
              <a:t>✦  </a:t>
            </a:r>
            <a:r>
              <a:rPr sz="1600">
                <a:solidFill>
                  <a:srgbClr val="CCCCCC"/>
                </a:solidFill>
                <a:latin typeface="Calibri"/>
              </a:rPr>
              <a:t>Featured website placement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>
                <a:solidFill>
                  <a:srgbClr val="A78BFA"/>
                </a:solidFill>
                <a:latin typeface="Calibri"/>
              </a:rPr>
              <a:t>✦  </a:t>
            </a:r>
            <a:r>
              <a:rPr sz="1600">
                <a:solidFill>
                  <a:srgbClr val="CCCCCC"/>
                </a:solidFill>
                <a:latin typeface="Calibri"/>
              </a:rPr>
              <a:t>Social media promotion across all platforms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>
                <a:solidFill>
                  <a:srgbClr val="A78BFA"/>
                </a:solidFill>
                <a:latin typeface="Calibri"/>
              </a:rPr>
              <a:t>✦  </a:t>
            </a:r>
            <a:r>
              <a:rPr sz="1600">
                <a:solidFill>
                  <a:srgbClr val="CCCCCC"/>
                </a:solidFill>
                <a:latin typeface="Calibri"/>
              </a:rPr>
              <a:t>Booth at startup exhibition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>
                <a:solidFill>
                  <a:srgbClr val="A78BFA"/>
                </a:solidFill>
                <a:latin typeface="Calibri"/>
              </a:rPr>
              <a:t>✦  </a:t>
            </a:r>
            <a:r>
              <a:rPr sz="1600">
                <a:solidFill>
                  <a:srgbClr val="CCCCCC"/>
                </a:solidFill>
                <a:latin typeface="Calibri"/>
              </a:rPr>
              <a:t>VIP networking access with founders &amp; investors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78BFA"/>
                </a:solidFill>
                <a:latin typeface="Calibri"/>
              </a:defRPr>
            </a:pPr>
            <a:r>
              <a:t>The most popular tier. Smart brands choose Platinum.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923C"/>
                </a:solidFill>
                <a:latin typeface="Calibri"/>
              </a:defRPr>
            </a:pPr>
            <a:r>
              <a:t>VISIBILITY PACKAGES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Gold &amp; Silver Sponsors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212080" cy="4114800"/>
          </a:xfrm>
          <a:prstGeom prst="roundRect">
            <a:avLst>
              <a:gd name="adj" fmla="val 2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521208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🥇 Gold Sponsor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B923C"/>
                </a:solidFill>
                <a:latin typeface="Calibri"/>
              </a:defRPr>
            </a:pPr>
            <a:r>
              <a:t>₹50,000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FB923C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Logo on website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FB923C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Social media promotion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FB923C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Startup exhibition booth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FB923C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Event mention during ceremony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737360"/>
            <a:ext cx="5212080" cy="4114800"/>
          </a:xfrm>
          <a:prstGeom prst="roundRect">
            <a:avLst>
              <a:gd name="adj" fmla="val 2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26480" y="1737360"/>
            <a:ext cx="5212080" cy="381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🥈 Silver Sponsor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1D5DB"/>
                </a:solidFill>
                <a:latin typeface="Calibri"/>
              </a:defRPr>
            </a:pPr>
            <a:r>
              <a:t>₹35,000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1752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D1D5DB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Logo on sponsor section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D1D5DB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Event promotion mention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D1D5DB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Networking access with founders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B923C"/>
                </a:solidFill>
                <a:latin typeface="Calibri"/>
              </a:defRPr>
            </a:pPr>
            <a:r>
              <a:t>Great visibility. Budget-friendly.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Calibri"/>
              </a:defRPr>
            </a:pPr>
            <a:r>
              <a:t>ENTRY-LEVEL PARTNERSHIPS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Startup · Innovation · Community Partners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383280" cy="3840480"/>
          </a:xfrm>
          <a:prstGeom prst="roundRect">
            <a:avLst>
              <a:gd name="adj" fmla="val 2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338328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🚀 Startup 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  <a:latin typeface="Calibri"/>
              </a:defRPr>
            </a:pPr>
            <a:r>
              <a:t>₹25,000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60A5FA"/>
                </a:solidFill>
                <a:latin typeface="Calibri"/>
              </a:rPr>
              <a:t>✦  </a:t>
            </a:r>
            <a:r>
              <a:rPr sz="1300">
                <a:solidFill>
                  <a:srgbClr val="CCCCCC"/>
                </a:solidFill>
                <a:latin typeface="Calibri"/>
              </a:rPr>
              <a:t>Logo on competition page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60A5FA"/>
                </a:solidFill>
                <a:latin typeface="Calibri"/>
              </a:rPr>
              <a:t>✦  </a:t>
            </a:r>
            <a:r>
              <a:rPr sz="1300">
                <a:solidFill>
                  <a:srgbClr val="CCCCCC"/>
                </a:solidFill>
                <a:latin typeface="Calibri"/>
              </a:rPr>
              <a:t>Social media mention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60A5FA"/>
                </a:solidFill>
                <a:latin typeface="Calibri"/>
              </a:rPr>
              <a:t>✦  </a:t>
            </a:r>
            <a:r>
              <a:rPr sz="1300">
                <a:solidFill>
                  <a:srgbClr val="CCCCCC"/>
                </a:solidFill>
                <a:latin typeface="Calibri"/>
              </a:rPr>
              <a:t>Access to startup database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737360"/>
            <a:ext cx="3383280" cy="3840480"/>
          </a:xfrm>
          <a:prstGeom prst="roundRect">
            <a:avLst>
              <a:gd name="adj" fmla="val 2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737360"/>
            <a:ext cx="338328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965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💡 Innovation Partner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23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DE80"/>
                </a:solidFill>
                <a:latin typeface="Calibri"/>
              </a:defRPr>
            </a:pPr>
            <a:r>
              <a:t>₹15,000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2608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4ADE80"/>
                </a:solidFill>
                <a:latin typeface="Calibri"/>
              </a:rPr>
              <a:t>✦  </a:t>
            </a:r>
            <a:r>
              <a:rPr sz="1300">
                <a:solidFill>
                  <a:srgbClr val="CCCCCC"/>
                </a:solidFill>
                <a:latin typeface="Calibri"/>
              </a:rPr>
              <a:t>Logo on event website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4ADE80"/>
                </a:solidFill>
                <a:latin typeface="Calibri"/>
              </a:rPr>
              <a:t>✦  </a:t>
            </a:r>
            <a:r>
              <a:rPr sz="1300">
                <a:solidFill>
                  <a:srgbClr val="CCCCCC"/>
                </a:solidFill>
                <a:latin typeface="Calibri"/>
              </a:rPr>
              <a:t>Social media posts mention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383280" cy="3840480"/>
          </a:xfrm>
          <a:prstGeom prst="roundRect">
            <a:avLst>
              <a:gd name="adj" fmla="val 2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737360"/>
            <a:ext cx="3383280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965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💜 Community Partner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23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472B6"/>
                </a:solidFill>
                <a:latin typeface="Calibri"/>
              </a:defRPr>
            </a:pPr>
            <a:r>
              <a:t>₹10,000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92608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F472B6"/>
                </a:solidFill>
                <a:latin typeface="Calibri"/>
              </a:rPr>
              <a:t>✦  </a:t>
            </a:r>
            <a:r>
              <a:rPr sz="1300">
                <a:solidFill>
                  <a:srgbClr val="CCCCCC"/>
                </a:solidFill>
                <a:latin typeface="Calibri"/>
              </a:rPr>
              <a:t>Brand mention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F472B6"/>
                </a:solidFill>
                <a:latin typeface="Calibri"/>
              </a:rPr>
              <a:t>✦  </a:t>
            </a:r>
            <a:r>
              <a:rPr sz="1300">
                <a:solidFill>
                  <a:srgbClr val="CCCCCC"/>
                </a:solidFill>
                <a:latin typeface="Calibri"/>
              </a:rPr>
              <a:t>Website listing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035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Calibri"/>
              </a:defRPr>
            </a:pPr>
            <a:r>
              <a:t>Even at ₹10,000 — your brand reaches 10L+ people.</a:t>
            </a:r>
            <a:br/>
            <a:r>
              <a:t>That's ₹0.01 per impression.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Calibri"/>
              </a:defRPr>
            </a:pPr>
            <a:r>
              <a:t>STRATEGIC PARTNERSHIP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🖥️ Innovation Track Sponsor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A78BFA"/>
                </a:solidFill>
                <a:latin typeface="Calibri"/>
              </a:defRPr>
            </a:pPr>
            <a:r>
              <a:t>₹2,00,000 – ₹5,00,000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Calibri"/>
              </a:defRPr>
            </a:pPr>
            <a:r>
              <a:t>AI Track  ·  Robotics Track  ·  FinTech Track  ·  HealthTech Track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10515600" cy="3200400"/>
          </a:xfrm>
          <a:prstGeom prst="roundRect">
            <a:avLst>
              <a:gd name="adj" fmla="val 2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A78BFA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Naming rights for your chosen track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A78BFA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Direct access to niche startup talent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A78BFA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Judging rights in track finals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65176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A78BFA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Track winner announced as "[Your Brand] Award"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A78BFA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Dedicated branding in track area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A78BFA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Featured company profile on track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78BFA"/>
                </a:solidFill>
                <a:latin typeface="Calibri"/>
              </a:defRPr>
            </a:pPr>
            <a:r>
              <a:t>Own a track. Find your next billion-dollar idea before anyone else.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HR BUDGETS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💼 Hiring Partner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D399"/>
                </a:solidFill>
                <a:latin typeface="Calibri"/>
              </a:defRPr>
            </a:pPr>
            <a:r>
              <a:t>₹3,00,000+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Calibri"/>
              </a:defRPr>
            </a:pPr>
            <a:r>
              <a:t>"Recruit from India's most innovative talent pool."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10515600" cy="3200400"/>
          </a:xfrm>
          <a:prstGeom prst="roundRect">
            <a:avLst>
              <a:gd name="adj" fmla="val 2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34D399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Full resume database access of all participants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34D399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On-spot interview booth at venue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34D399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Branded as Official Hiring Partner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69748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dirty="0">
                <a:solidFill>
                  <a:srgbClr val="34D399"/>
                </a:solidFill>
                <a:latin typeface="Calibri"/>
              </a:rPr>
              <a:t>✦  </a:t>
            </a:r>
            <a:r>
              <a:rPr sz="1500" dirty="0">
                <a:solidFill>
                  <a:srgbClr val="CCCCCC"/>
                </a:solidFill>
                <a:latin typeface="Calibri"/>
              </a:rPr>
              <a:t>Job board placement on event website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dirty="0">
                <a:solidFill>
                  <a:srgbClr val="34D399"/>
                </a:solidFill>
                <a:latin typeface="Calibri"/>
              </a:rPr>
              <a:t>✦  </a:t>
            </a:r>
            <a:r>
              <a:rPr sz="1500" dirty="0">
                <a:solidFill>
                  <a:srgbClr val="CCCCCC"/>
                </a:solidFill>
                <a:latin typeface="Calibri"/>
              </a:rPr>
              <a:t>Priority access to winning teams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dirty="0">
                <a:solidFill>
                  <a:srgbClr val="34D399"/>
                </a:solidFill>
                <a:latin typeface="Calibri"/>
              </a:rPr>
              <a:t>✦  </a:t>
            </a:r>
            <a:r>
              <a:rPr sz="1500" dirty="0">
                <a:solidFill>
                  <a:srgbClr val="CCCCCC"/>
                </a:solidFill>
                <a:latin typeface="Calibri"/>
              </a:rPr>
              <a:t>Talent pipeline for internships &amp; full-time roles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4D399"/>
                </a:solidFill>
                <a:latin typeface="Calibri"/>
              </a:defRPr>
            </a:pPr>
            <a:r>
              <a:t>One event. Hundreds of pre-vetted innovators. Zero recruitment agency fees.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6"/>
                </a:solidFill>
                <a:latin typeface="Calibri"/>
              </a:defRPr>
            </a:pPr>
            <a:r>
              <a:t>MARKETING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📱 Digital Reach Sponsor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472B6"/>
                </a:solidFill>
                <a:latin typeface="Calibri"/>
              </a:defRPr>
            </a:pPr>
            <a:r>
              <a:t>₹1,00,000 – ₹3,00,000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Calibri"/>
              </a:defRPr>
            </a:pPr>
            <a:r>
              <a:t>"Your brand in every reel, every story, every share."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10515600" cy="3200400"/>
          </a:xfrm>
          <a:prstGeom prst="roundRect">
            <a:avLst>
              <a:gd name="adj" fmla="val 2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F472B6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Logo &amp; branding in all Instagram reels &amp; stories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F472B6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YouTube coverage with brand integration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F472B6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Influencer integration &amp; co-created 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65176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F472B6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Branded hashtag campaign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F472B6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Post-event highlight reel with sponsor branding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F472B6"/>
                </a:solidFill>
                <a:latin typeface="Calibri"/>
              </a:rPr>
              <a:t>✦  </a:t>
            </a:r>
            <a:r>
              <a:rPr sz="1500">
                <a:solidFill>
                  <a:srgbClr val="CCCCCC"/>
                </a:solidFill>
                <a:latin typeface="Calibri"/>
              </a:rPr>
              <a:t>Social media analytics report shared post-event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472B6"/>
                </a:solidFill>
                <a:latin typeface="Calibri"/>
              </a:defRPr>
            </a:pPr>
            <a:r>
              <a:t>Maximize your digital footprint. Measurable ROI.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Calibri"/>
              </a:defRPr>
            </a:pPr>
            <a:r>
              <a:t>SPECIAL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Special Partnership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Calibri"/>
              </a:defRPr>
            </a:pPr>
            <a:r>
              <a:t>High visibility, low investment. Perfect add-ons for any brand.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383280" cy="3657600"/>
          </a:xfrm>
          <a:prstGeom prst="roundRect">
            <a:avLst>
              <a:gd name="adj" fmla="val 2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338328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🎤 Stage Sponsor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D3EE"/>
                </a:solidFill>
                <a:latin typeface="Calibri"/>
              </a:defRPr>
            </a:pPr>
            <a:r>
              <a:t>₹40,000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Your brand on the main stage backdrop. Every pitch, every talk, every photo — your logo is there.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103120"/>
            <a:ext cx="3383280" cy="3657600"/>
          </a:xfrm>
          <a:prstGeom prst="roundRect">
            <a:avLst>
              <a:gd name="adj" fmla="val 2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2103120"/>
            <a:ext cx="338328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🎥 Media Sponsor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80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7171"/>
                </a:solidFill>
                <a:latin typeface="Calibri"/>
              </a:defRPr>
            </a:pPr>
            <a:r>
              <a:t>₹30,000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4290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Logo in all videos and livestream. Your brand reaches everyone watching online.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03120"/>
            <a:ext cx="3383280" cy="3657600"/>
          </a:xfrm>
          <a:prstGeom prst="roundRect">
            <a:avLst>
              <a:gd name="adj" fmla="val 2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2103120"/>
            <a:ext cx="338328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2377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🏆 Award Sponsor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880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₹20,000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4290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Your name on winner trophies. Associated with excellence and innovation forever.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Calibri"/>
              </a:defRPr>
            </a:pPr>
            <a:r>
              <a:t>SHOWCASE YOUR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🏪 Exhibition Booth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3657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2D3EE"/>
                </a:solidFill>
                <a:latin typeface="Calibri"/>
              </a:defRPr>
            </a:pPr>
            <a:r>
              <a:rPr dirty="0"/>
              <a:t>₹</a:t>
            </a:r>
            <a:r>
              <a:rPr lang="en-US" dirty="0"/>
              <a:t>8</a:t>
            </a:r>
            <a:r>
              <a:rPr dirty="0"/>
              <a:t>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508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Calibri"/>
              </a:defRPr>
            </a:pPr>
            <a:r>
              <a:t>per booth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10515600" cy="3200400"/>
          </a:xfrm>
          <a:prstGeom prst="roundRect">
            <a:avLst>
              <a:gd name="adj" fmla="val 2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105156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514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CCCC"/>
                </a:solidFill>
                <a:latin typeface="Calibri"/>
              </a:defRPr>
            </a:pPr>
            <a:r>
              <a:t>6×6 ft Branded Booth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514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CCCC"/>
                </a:solidFill>
                <a:latin typeface="Calibri"/>
              </a:defRPr>
            </a:pPr>
            <a:r>
              <a:t>Table, Chairs &amp; Furniture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514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CCCC"/>
                </a:solidFill>
                <a:latin typeface="Calibri"/>
              </a:defRPr>
            </a:pPr>
            <a:r>
              <a:t>Power Outlet &amp; Wi-Fi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49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94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CCCC"/>
                </a:solidFill>
                <a:latin typeface="Calibri"/>
              </a:defRPr>
            </a:pPr>
            <a:r>
              <a:t>Branded Backdrop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749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794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CCCC"/>
                </a:solidFill>
                <a:latin typeface="Calibri"/>
              </a:defRPr>
            </a:pPr>
            <a:r>
              <a:t>10,000+ Visitor Footfall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749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794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CCCC"/>
                </a:solidFill>
                <a:latin typeface="Calibri"/>
              </a:defRPr>
            </a:pPr>
            <a:r>
              <a:t>Product Demo 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Calibri"/>
              </a:defRPr>
            </a:pPr>
            <a:r>
              <a:t>Showcase your product directly to 10,000+ attendees.</a:t>
            </a:r>
            <a:br/>
            <a:r>
              <a:t>Perfect for startups, product companies, and service providers.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856" y="48620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Sponsorship Tier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3351"/>
            <a:ext cx="2377440" cy="438912"/>
          </a:xfrm>
          <a:prstGeom prst="roundRect">
            <a:avLst>
              <a:gd name="adj" fmla="val 0"/>
            </a:avLst>
          </a:prstGeom>
          <a:solidFill>
            <a:srgbClr val="25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111639"/>
            <a:ext cx="2231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BBF24"/>
                </a:solidFill>
                <a:latin typeface="Calibri"/>
              </a:defRPr>
            </a:pPr>
            <a:r>
              <a:t>Benefit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093351"/>
            <a:ext cx="1371600" cy="438912"/>
          </a:xfrm>
          <a:prstGeom prst="roundRect">
            <a:avLst>
              <a:gd name="adj" fmla="val 0"/>
            </a:avLst>
          </a:prstGeom>
          <a:solidFill>
            <a:srgbClr val="25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99232" y="1111639"/>
            <a:ext cx="12252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BBF24"/>
                </a:solidFill>
                <a:latin typeface="Calibri"/>
              </a:defRPr>
            </a:pPr>
            <a:r>
              <a:t>Title</a:t>
            </a:r>
            <a:br/>
            <a:r>
              <a:t>₹7.5L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093351"/>
            <a:ext cx="1463040" cy="438912"/>
          </a:xfrm>
          <a:prstGeom prst="roundRect">
            <a:avLst>
              <a:gd name="adj" fmla="val 0"/>
            </a:avLst>
          </a:prstGeom>
          <a:solidFill>
            <a:srgbClr val="25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0832" y="1111639"/>
            <a:ext cx="13167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BBF24"/>
                </a:solidFill>
                <a:latin typeface="Calibri"/>
              </a:defRPr>
            </a:pPr>
            <a:r>
              <a:t>Presenting</a:t>
            </a:r>
            <a:br/>
            <a:r>
              <a:t>₹5L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093351"/>
            <a:ext cx="1463040" cy="438912"/>
          </a:xfrm>
          <a:prstGeom prst="roundRect">
            <a:avLst>
              <a:gd name="adj" fmla="val 0"/>
            </a:avLst>
          </a:prstGeom>
          <a:solidFill>
            <a:srgbClr val="25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33872" y="1111639"/>
            <a:ext cx="13167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BBF24"/>
                </a:solidFill>
                <a:latin typeface="Calibri"/>
              </a:defRPr>
            </a:pPr>
            <a:r>
              <a:t>Diamond</a:t>
            </a:r>
            <a:br/>
            <a:r>
              <a:t>₹3.5L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1093351"/>
            <a:ext cx="1371600" cy="438912"/>
          </a:xfrm>
          <a:prstGeom prst="roundRect">
            <a:avLst>
              <a:gd name="adj" fmla="val 0"/>
            </a:avLst>
          </a:prstGeom>
          <a:solidFill>
            <a:srgbClr val="25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96912" y="1111639"/>
            <a:ext cx="12252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BBF24"/>
                </a:solidFill>
                <a:latin typeface="Calibri"/>
              </a:defRPr>
            </a:pPr>
            <a:r>
              <a:t>Platinum</a:t>
            </a:r>
            <a:br/>
            <a:r>
              <a:t>₹1L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093351"/>
            <a:ext cx="1280160" cy="438912"/>
          </a:xfrm>
          <a:prstGeom prst="roundRect">
            <a:avLst>
              <a:gd name="adj" fmla="val 0"/>
            </a:avLst>
          </a:prstGeom>
          <a:solidFill>
            <a:srgbClr val="25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68512" y="1111639"/>
            <a:ext cx="11338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BBF24"/>
                </a:solidFill>
                <a:latin typeface="Calibri"/>
              </a:defRPr>
            </a:pPr>
            <a:r>
              <a:t>Gold</a:t>
            </a:r>
            <a:br/>
            <a:r>
              <a:t>₹50K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0" y="1093351"/>
            <a:ext cx="1280160" cy="438912"/>
          </a:xfrm>
          <a:prstGeom prst="roundRect">
            <a:avLst>
              <a:gd name="adj" fmla="val 0"/>
            </a:avLst>
          </a:prstGeom>
          <a:solidFill>
            <a:srgbClr val="25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48672" y="1111639"/>
            <a:ext cx="11338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BBF24"/>
                </a:solidFill>
                <a:latin typeface="Calibri"/>
              </a:defRPr>
            </a:pPr>
            <a:r>
              <a:t>Silver</a:t>
            </a:r>
            <a:br/>
            <a:r>
              <a:t>₹35K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532263"/>
            <a:ext cx="237744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" y="1577983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Event Naming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1532263"/>
            <a:ext cx="137160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99232" y="1577983"/>
            <a:ext cx="1225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1532263"/>
            <a:ext cx="146304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70832" y="1577983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0" y="1532263"/>
            <a:ext cx="146304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33872" y="1577983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1532263"/>
            <a:ext cx="137160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96912" y="1577983"/>
            <a:ext cx="1225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95360" y="1532263"/>
            <a:ext cx="128016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68512" y="1577983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20" y="1532263"/>
            <a:ext cx="128016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948672" y="1577983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1971175"/>
            <a:ext cx="237744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1792" y="2016895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Keynote Speech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26080" y="1971175"/>
            <a:ext cx="137160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999232" y="2016895"/>
            <a:ext cx="1225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10 min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0" y="1971175"/>
            <a:ext cx="146304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70832" y="2016895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5 min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60720" y="1971175"/>
            <a:ext cx="146304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833872" y="2016895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23760" y="1971175"/>
            <a:ext cx="137160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296912" y="2016895"/>
            <a:ext cx="1225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95360" y="1971175"/>
            <a:ext cx="128016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68512" y="2016895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75520" y="1971175"/>
            <a:ext cx="128016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948672" y="2016895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2410087"/>
            <a:ext cx="237744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1792" y="2455807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Stage Logo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926080" y="2410087"/>
            <a:ext cx="137160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999232" y="2455807"/>
            <a:ext cx="1225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97680" y="2410087"/>
            <a:ext cx="146304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370832" y="2455807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60720" y="2410087"/>
            <a:ext cx="146304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833872" y="2455807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223760" y="2410087"/>
            <a:ext cx="137160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296912" y="2455807"/>
            <a:ext cx="1225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595360" y="2410087"/>
            <a:ext cx="128016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668512" y="2455807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875520" y="2410087"/>
            <a:ext cx="128016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948672" y="2455807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8640" y="2848999"/>
            <a:ext cx="237744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21792" y="2894719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Banner Branding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926080" y="2848999"/>
            <a:ext cx="137160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999232" y="2894719"/>
            <a:ext cx="1225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297680" y="2848999"/>
            <a:ext cx="146304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370832" y="2894719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760720" y="2848999"/>
            <a:ext cx="146304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833872" y="2894719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223760" y="2848999"/>
            <a:ext cx="137160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296912" y="2894719"/>
            <a:ext cx="1225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595360" y="2848999"/>
            <a:ext cx="128016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668512" y="2894719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875520" y="2848999"/>
            <a:ext cx="128016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948672" y="2894719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48640" y="3287911"/>
            <a:ext cx="237744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21792" y="3333631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Exhibition Booth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926080" y="3287911"/>
            <a:ext cx="137160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999232" y="3333631"/>
            <a:ext cx="1225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Premium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297680" y="3287911"/>
            <a:ext cx="146304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370832" y="3333631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VIP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760720" y="3287911"/>
            <a:ext cx="146304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833872" y="3333631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Premium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223760" y="3287911"/>
            <a:ext cx="137160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296912" y="3333631"/>
            <a:ext cx="1225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595360" y="3287911"/>
            <a:ext cx="128016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668512" y="3333631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875520" y="3287911"/>
            <a:ext cx="128016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948672" y="3333631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48640" y="3726823"/>
            <a:ext cx="237744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21792" y="3772543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Website Branding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926080" y="3726823"/>
            <a:ext cx="137160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2999232" y="3772543"/>
            <a:ext cx="1225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Premium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297680" y="3726823"/>
            <a:ext cx="146304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4370832" y="3772543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Featured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760720" y="3726823"/>
            <a:ext cx="146304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833872" y="3772543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Featured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223760" y="3726823"/>
            <a:ext cx="137160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296912" y="3772543"/>
            <a:ext cx="1225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Featured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595360" y="3726823"/>
            <a:ext cx="128016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668512" y="3772543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Logo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875520" y="3726823"/>
            <a:ext cx="128016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948672" y="3772543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Logo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48640" y="4165735"/>
            <a:ext cx="237744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21792" y="4211455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Social Media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2926080" y="4165735"/>
            <a:ext cx="137160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2999232" y="4211455"/>
            <a:ext cx="1225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All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4297680" y="4165735"/>
            <a:ext cx="146304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4370832" y="4211455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All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760720" y="4165735"/>
            <a:ext cx="146304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5833872" y="4211455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All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223760" y="4165735"/>
            <a:ext cx="137160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7296912" y="4211455"/>
            <a:ext cx="1225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All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8595360" y="4165735"/>
            <a:ext cx="128016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668512" y="4211455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Mention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9875520" y="4165735"/>
            <a:ext cx="128016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9948672" y="4211455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548640" y="4604647"/>
            <a:ext cx="237744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21792" y="4650367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Jury Seat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2926080" y="4604647"/>
            <a:ext cx="137160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2999232" y="4650367"/>
            <a:ext cx="1225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4297680" y="4604647"/>
            <a:ext cx="146304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4370832" y="4650367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760720" y="4604647"/>
            <a:ext cx="146304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5833872" y="4650367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7223760" y="4604647"/>
            <a:ext cx="137160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7296912" y="4650367"/>
            <a:ext cx="1225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8595360" y="4604647"/>
            <a:ext cx="128016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8668512" y="4650367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9875520" y="4604647"/>
            <a:ext cx="128016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9948672" y="4650367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48640" y="5043559"/>
            <a:ext cx="237744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621792" y="5089279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Hiring Zone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2926080" y="5043559"/>
            <a:ext cx="137160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2999232" y="5089279"/>
            <a:ext cx="1225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4297680" y="5043559"/>
            <a:ext cx="146304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4370832" y="5089279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5760720" y="5043559"/>
            <a:ext cx="146304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5833872" y="5089279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223760" y="5043559"/>
            <a:ext cx="137160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7296912" y="5089279"/>
            <a:ext cx="1225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8595360" y="5043559"/>
            <a:ext cx="128016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8668512" y="5089279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9875520" y="5043559"/>
            <a:ext cx="128016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9948672" y="5089279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548640" y="5482471"/>
            <a:ext cx="237744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621792" y="5528191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Talent Access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926080" y="5482471"/>
            <a:ext cx="137160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2999232" y="5528191"/>
            <a:ext cx="1225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4297680" y="5482471"/>
            <a:ext cx="146304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4370832" y="5528191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5760720" y="5482471"/>
            <a:ext cx="146304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5833872" y="5528191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7223760" y="5482471"/>
            <a:ext cx="137160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7296912" y="5528191"/>
            <a:ext cx="1225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8595360" y="5482471"/>
            <a:ext cx="128016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8668512" y="5528191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9875520" y="5482471"/>
            <a:ext cx="128016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9948672" y="5528191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548640" y="5921383"/>
            <a:ext cx="237744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621792" y="5967103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Media Coverage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2926080" y="5921383"/>
            <a:ext cx="137160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2999232" y="5967103"/>
            <a:ext cx="1225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4297680" y="5921383"/>
            <a:ext cx="146304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4370832" y="5967103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5760720" y="5921383"/>
            <a:ext cx="146304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5833872" y="5967103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7223760" y="5921383"/>
            <a:ext cx="137160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7296912" y="5967103"/>
            <a:ext cx="1225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8595360" y="5921383"/>
            <a:ext cx="128016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8668512" y="5967103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9875520" y="5921383"/>
            <a:ext cx="1280160" cy="438912"/>
          </a:xfrm>
          <a:prstGeom prst="roundRect">
            <a:avLst>
              <a:gd name="adj" fmla="val 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9948672" y="5967103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548640" y="6360295"/>
            <a:ext cx="237744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621792" y="6406015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Networking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2926080" y="6360295"/>
            <a:ext cx="137160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2999232" y="6406015"/>
            <a:ext cx="1225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VIP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4297680" y="6360295"/>
            <a:ext cx="146304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4370832" y="6406015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VIP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5760720" y="6360295"/>
            <a:ext cx="146304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5833872" y="6406015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VIP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7223760" y="6360295"/>
            <a:ext cx="137160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7296912" y="6406015"/>
            <a:ext cx="1225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VIP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8595360" y="6360295"/>
            <a:ext cx="128016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8668512" y="6406015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General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9875520" y="6360295"/>
            <a:ext cx="1280160" cy="438912"/>
          </a:xfrm>
          <a:prstGeom prst="roundRect">
            <a:avLst>
              <a:gd name="adj" fmla="val 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9948672" y="6406015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General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Let's Build the</a:t>
            </a:r>
            <a:br/>
            <a:r>
              <a:t>Future Together.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79164" y="2705211"/>
            <a:ext cx="4508226" cy="3148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99"/>
                </a:solidFill>
                <a:latin typeface="Calibri"/>
              </a:defRPr>
            </a:pPr>
            <a:r>
              <a:t>India's innovators are waiting.</a:t>
            </a:r>
            <a:br/>
            <a:r>
              <a:t>Your brand can be the one that backed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3840480"/>
            <a:ext cx="5760720" cy="1828800"/>
          </a:xfrm>
          <a:prstGeom prst="roundRect">
            <a:avLst>
              <a:gd name="adj" fmla="val 2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0" y="3840480"/>
            <a:ext cx="576072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0" y="4069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BBF24"/>
                </a:solidFill>
                <a:latin typeface="Calibri"/>
              </a:defRPr>
            </a:pPr>
            <a:r>
              <a:t>Get In Touch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44805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📧  sponsor@vishvakarmahub.com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48006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rPr dirty="0"/>
              <a:t>🌐  www.vishvakarmahub.com/competition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5120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📞  Contact us for custom packages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6035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  <a:latin typeface="Calibri"/>
              </a:defRPr>
            </a:pPr>
            <a:r>
              <a:t>Limited slots  ·  First-come, first-served  ·  Secure your partnership today.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821424"/>
            <a:ext cx="12191695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1214</Words>
  <Application>Microsoft Office PowerPoint</Application>
  <PresentationFormat>Widescreen</PresentationFormat>
  <Paragraphs>288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psrihari0123@gmail.com</cp:lastModifiedBy>
  <cp:revision>2</cp:revision>
  <dcterms:created xsi:type="dcterms:W3CDTF">2013-01-27T09:14:16Z</dcterms:created>
  <dcterms:modified xsi:type="dcterms:W3CDTF">2026-03-29T14:54:35Z</dcterms:modified>
  <cp:category/>
</cp:coreProperties>
</file>